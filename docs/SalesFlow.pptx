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embeddedFontLst>
    <p:embeddedFont>
      <p:font typeface="Rubik" pitchFamily="34" charset="0"/>
      <p:regular r:id="rId12"/>
      <p:bold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font" Target="fonts/font1.fntdata"/><Relationship Id="rId13"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SalesFlow calcula a receita por categoria e por marca a partir de eventos de e-commerce, em três versões: baseline sequencial, paralela (threads vs. processos) e distribuída (coordenador e workers HTTP com tolerância a falha). Os blocos coloridos representam os blocos do arquivo; o laranja é um bloco reatribuído após a queda de um 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Três versões do mesmo cálculo, todas usando a mesma função de limpeza (process_row), então qualquer diferença de resultado vem da orquestração. Só eventos de compra entram; compra com preço vazio, não numérico ou menor ou igual a zero é inválida; categoria ou marca vazia vira “desconhecido”. Os números da faixa escura são o resultado do baseline sobre a base sintética.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bloco é dono das linhas que começam dentro do seu intervalo de bytes, então nenhuma linha é perdida nem contada duas vezes. No distribuído, só circulam pela rede os intervalos de bytes e os totais parciais; o CSV é lido por cada worker. Regra de consistência: o coordenador guarda um resultado por block_id e, se o mesmo bloco chegar duas vezes, sobrescreve em vez de somar. Se um bloco esgotar as tentativas, o coordenador falha com erro explícito, nunca entrega um total incompleto.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Speedup é o tempo do baseline dividido pelo tempo da configuração, com blocos de 64 MB. As 51 rodadas válidas tiveram resultado idêntico ao baseline. Tamanho do bloco, com 4 processos: 16 MB deu 3,18x, 64 MB deu 2,84x e 256 MB deu 1,74x. No distribuído com 3 workers, os blocos de 16, 64 e 256 MB deram 2,11x, 2,05x e 1,49x.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explicação do GIL é baseada no comportamento conhecido do interpretador e não foi medida com profiler. O resultado do distribuído não mede o ganho em máquinas separadas: coordenador e workers disputam os mesmos 4 núcleos. O teste de falha com Docker não foi executado porque o daemon não estava disponível; a falha foi testada matando um worker local. Com base real do Kaggle os ganhos podem diferir, já que a base sintética tem poucas compras por linha.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25780"/>
          </a:xfrm>
          <a:prstGeom prst="rect">
            <a:avLst/>
          </a:prstGeom>
          <a:noFill/>
          <a:ln/>
        </p:spPr>
        <p:txBody>
          <a:bodyPr wrap="square" lIns="0" tIns="0" rIns="0" bIns="0" rtlCol="0" anchor="t"/>
          <a:lstStyle>
            <a:lvl1pPr algn="l" indent="0" marL="0">
              <a:lnSpc>
                <a:spcPct val="115000"/>
              </a:lnSpc>
              <a:buNone/>
              <a:defRPr lang="en-US" sz="3600" dirty="0">
                <a:solidFill>
                  <a:srgbClr val="0F1B2D"/>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43380"/>
            <a:ext cx="10566400" cy="4401820"/>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25780"/>
          </a:xfrm>
          <a:prstGeom prst="rect">
            <a:avLst/>
          </a:prstGeom>
          <a:noFill/>
          <a:ln/>
        </p:spPr>
        <p:txBody>
          <a:bodyPr wrap="square" lIns="0" tIns="0" rIns="0" bIns="0" rtlCol="0" anchor="t"/>
          <a:lstStyle>
            <a:lvl1pPr algn="l" indent="0" marL="0">
              <a:lnSpc>
                <a:spcPct val="115000"/>
              </a:lnSpc>
              <a:buNone/>
              <a:defRPr lang="en-US" sz="3600" dirty="0">
                <a:solidFill>
                  <a:srgbClr val="0F1B2D"/>
                </a:solidFill>
                <a:latin typeface="Rubik" pitchFamily="34" charset="0"/>
                <a:ea typeface="Rubik" pitchFamily="34" charset="-122"/>
                <a:cs typeface="Rubi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43380"/>
            <a:ext cx="10566400" cy="4401820"/>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zaccmarc/salesflow" TargetMode="Externa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8483600" y="812800"/>
            <a:ext cx="609600" cy="609600"/>
          </a:xfrm>
          <a:prstGeom prst="roundRect">
            <a:avLst>
              <a:gd name="adj" fmla="val 20833"/>
            </a:avLst>
          </a:prstGeom>
          <a:solidFill>
            <a:srgbClr val="4FD1B5">
              <a:alpha val="90000"/>
            </a:srgbClr>
          </a:solidFill>
          <a:ln/>
        </p:spPr>
      </p:sp>
      <p:sp>
        <p:nvSpPr>
          <p:cNvPr id="3" name="Shape 1"/>
          <p:cNvSpPr/>
          <p:nvPr/>
        </p:nvSpPr>
        <p:spPr>
          <a:xfrm>
            <a:off x="9245600" y="812800"/>
            <a:ext cx="609600" cy="609600"/>
          </a:xfrm>
          <a:prstGeom prst="roundRect">
            <a:avLst>
              <a:gd name="adj" fmla="val 20833"/>
            </a:avLst>
          </a:prstGeom>
          <a:solidFill>
            <a:srgbClr val="4FD1B5">
              <a:alpha val="55000"/>
            </a:srgbClr>
          </a:solidFill>
          <a:ln/>
        </p:spPr>
      </p:sp>
      <p:sp>
        <p:nvSpPr>
          <p:cNvPr id="4" name="Shape 2"/>
          <p:cNvSpPr/>
          <p:nvPr/>
        </p:nvSpPr>
        <p:spPr>
          <a:xfrm>
            <a:off x="10007600" y="812800"/>
            <a:ext cx="609600" cy="609600"/>
          </a:xfrm>
          <a:prstGeom prst="roundRect">
            <a:avLst>
              <a:gd name="adj" fmla="val 20833"/>
            </a:avLst>
          </a:prstGeom>
          <a:solidFill>
            <a:srgbClr val="4FD1B5">
              <a:alpha val="25000"/>
            </a:srgbClr>
          </a:solidFill>
          <a:ln/>
        </p:spPr>
      </p:sp>
      <p:sp>
        <p:nvSpPr>
          <p:cNvPr id="5" name="Shape 3"/>
          <p:cNvSpPr/>
          <p:nvPr/>
        </p:nvSpPr>
        <p:spPr>
          <a:xfrm>
            <a:off x="10769600" y="812800"/>
            <a:ext cx="609600" cy="609600"/>
          </a:xfrm>
          <a:prstGeom prst="roundRect">
            <a:avLst>
              <a:gd name="adj" fmla="val 20833"/>
            </a:avLst>
          </a:prstGeom>
          <a:solidFill>
            <a:srgbClr val="4FD1B5">
              <a:alpha val="55000"/>
            </a:srgbClr>
          </a:solidFill>
          <a:ln/>
        </p:spPr>
      </p:sp>
      <p:sp>
        <p:nvSpPr>
          <p:cNvPr id="6" name="Shape 4"/>
          <p:cNvSpPr/>
          <p:nvPr/>
        </p:nvSpPr>
        <p:spPr>
          <a:xfrm>
            <a:off x="8483600" y="1574800"/>
            <a:ext cx="609600" cy="609600"/>
          </a:xfrm>
          <a:prstGeom prst="roundRect">
            <a:avLst>
              <a:gd name="adj" fmla="val 20833"/>
            </a:avLst>
          </a:prstGeom>
          <a:solidFill>
            <a:srgbClr val="4FD1B5">
              <a:alpha val="55000"/>
            </a:srgbClr>
          </a:solidFill>
          <a:ln/>
        </p:spPr>
      </p:sp>
      <p:sp>
        <p:nvSpPr>
          <p:cNvPr id="7" name="Shape 5"/>
          <p:cNvSpPr/>
          <p:nvPr/>
        </p:nvSpPr>
        <p:spPr>
          <a:xfrm>
            <a:off x="9245600" y="1574800"/>
            <a:ext cx="609600" cy="609600"/>
          </a:xfrm>
          <a:prstGeom prst="roundRect">
            <a:avLst>
              <a:gd name="adj" fmla="val 20833"/>
            </a:avLst>
          </a:prstGeom>
          <a:solidFill>
            <a:srgbClr val="E9A23B"/>
          </a:solidFill>
          <a:ln/>
        </p:spPr>
      </p:sp>
      <p:sp>
        <p:nvSpPr>
          <p:cNvPr id="8" name="Shape 6"/>
          <p:cNvSpPr/>
          <p:nvPr/>
        </p:nvSpPr>
        <p:spPr>
          <a:xfrm>
            <a:off x="10007600" y="1574800"/>
            <a:ext cx="609600" cy="609600"/>
          </a:xfrm>
          <a:prstGeom prst="roundRect">
            <a:avLst>
              <a:gd name="adj" fmla="val 20833"/>
            </a:avLst>
          </a:prstGeom>
          <a:solidFill>
            <a:srgbClr val="4FD1B5">
              <a:alpha val="90000"/>
            </a:srgbClr>
          </a:solidFill>
          <a:ln/>
        </p:spPr>
      </p:sp>
      <p:sp>
        <p:nvSpPr>
          <p:cNvPr id="9" name="Shape 7"/>
          <p:cNvSpPr/>
          <p:nvPr/>
        </p:nvSpPr>
        <p:spPr>
          <a:xfrm>
            <a:off x="10769600" y="1574800"/>
            <a:ext cx="609600" cy="609600"/>
          </a:xfrm>
          <a:prstGeom prst="roundRect">
            <a:avLst>
              <a:gd name="adj" fmla="val 20833"/>
            </a:avLst>
          </a:prstGeom>
          <a:solidFill>
            <a:srgbClr val="4FD1B5">
              <a:alpha val="25000"/>
            </a:srgbClr>
          </a:solidFill>
          <a:ln/>
        </p:spPr>
      </p:sp>
      <p:sp>
        <p:nvSpPr>
          <p:cNvPr id="10" name="Shape 8"/>
          <p:cNvSpPr/>
          <p:nvPr/>
        </p:nvSpPr>
        <p:spPr>
          <a:xfrm>
            <a:off x="8483600" y="2336800"/>
            <a:ext cx="609600" cy="609600"/>
          </a:xfrm>
          <a:prstGeom prst="roundRect">
            <a:avLst>
              <a:gd name="adj" fmla="val 20833"/>
            </a:avLst>
          </a:prstGeom>
          <a:solidFill>
            <a:srgbClr val="4FD1B5">
              <a:alpha val="25000"/>
            </a:srgbClr>
          </a:solidFill>
          <a:ln/>
        </p:spPr>
      </p:sp>
      <p:sp>
        <p:nvSpPr>
          <p:cNvPr id="11" name="Shape 9"/>
          <p:cNvSpPr/>
          <p:nvPr/>
        </p:nvSpPr>
        <p:spPr>
          <a:xfrm>
            <a:off x="9245600" y="2336800"/>
            <a:ext cx="609600" cy="609600"/>
          </a:xfrm>
          <a:prstGeom prst="roundRect">
            <a:avLst>
              <a:gd name="adj" fmla="val 20833"/>
            </a:avLst>
          </a:prstGeom>
          <a:solidFill>
            <a:srgbClr val="4FD1B5">
              <a:alpha val="90000"/>
            </a:srgbClr>
          </a:solidFill>
          <a:ln/>
        </p:spPr>
      </p:sp>
      <p:sp>
        <p:nvSpPr>
          <p:cNvPr id="12" name="Shape 10"/>
          <p:cNvSpPr/>
          <p:nvPr/>
        </p:nvSpPr>
        <p:spPr>
          <a:xfrm>
            <a:off x="10007600" y="2336800"/>
            <a:ext cx="609600" cy="609600"/>
          </a:xfrm>
          <a:prstGeom prst="roundRect">
            <a:avLst>
              <a:gd name="adj" fmla="val 20833"/>
            </a:avLst>
          </a:prstGeom>
          <a:solidFill>
            <a:srgbClr val="4FD1B5">
              <a:alpha val="55000"/>
            </a:srgbClr>
          </a:solidFill>
          <a:ln/>
        </p:spPr>
      </p:sp>
      <p:sp>
        <p:nvSpPr>
          <p:cNvPr id="13" name="Shape 11"/>
          <p:cNvSpPr/>
          <p:nvPr/>
        </p:nvSpPr>
        <p:spPr>
          <a:xfrm>
            <a:off x="10769600" y="2336800"/>
            <a:ext cx="609600" cy="609600"/>
          </a:xfrm>
          <a:prstGeom prst="roundRect">
            <a:avLst>
              <a:gd name="adj" fmla="val 20833"/>
            </a:avLst>
          </a:prstGeom>
          <a:solidFill>
            <a:srgbClr val="4FD1B5">
              <a:alpha val="90000"/>
            </a:srgbClr>
          </a:solidFill>
          <a:ln/>
        </p:spPr>
      </p:sp>
      <p:sp>
        <p:nvSpPr>
          <p:cNvPr id="14" name="Text 12"/>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4FD1B5"/>
                </a:solidFill>
                <a:latin typeface="IBM Plex Sans" pitchFamily="34" charset="0"/>
                <a:ea typeface="IBM Plex Sans" pitchFamily="34" charset="-122"/>
                <a:cs typeface="IBM Plex Sans" pitchFamily="34" charset="-120"/>
              </a:rPr>
              <a:t>FUNDAMENTOS DA PROGRAMAÇÃO PARALELA E DISTRIBUÍDA</a:t>
            </a:r>
            <a:endParaRPr lang="en-US" sz="1400" dirty="0"/>
          </a:p>
        </p:txBody>
      </p:sp>
      <p:sp>
        <p:nvSpPr>
          <p:cNvPr id="15" name="Text 13"/>
          <p:cNvSpPr/>
          <p:nvPr>
            <p:ph type="title"/>
          </p:nvPr>
        </p:nvSpPr>
        <p:spPr>
          <a:xfrm>
            <a:off x="812800" y="3449320"/>
            <a:ext cx="7194550" cy="1422400"/>
          </a:xfrm>
          <a:prstGeom prst="rect">
            <a:avLst/>
          </a:prstGeom>
          <a:noFill/>
          <a:ln/>
        </p:spPr>
        <p:txBody>
          <a:bodyPr wrap="square" lIns="0" tIns="0" rIns="0" bIns="0" rtlCol="0" anchor="t">
            <a:normAutofit/>
          </a:bodyPr>
          <a:lstStyle/>
          <a:p>
            <a:pPr algn="l" indent="0" marL="0">
              <a:lnSpc>
                <a:spcPts val="11000"/>
              </a:lnSpc>
              <a:buNone/>
            </a:pPr>
            <a:r>
              <a:rPr lang="en-US" sz="10000" b="1" i="0" dirty="0">
                <a:solidFill>
                  <a:srgbClr val="F6F5F1"/>
                </a:solidFill>
                <a:latin typeface="Rubik" pitchFamily="34" charset="0"/>
                <a:ea typeface="Rubik" pitchFamily="34" charset="-122"/>
                <a:cs typeface="Rubik" pitchFamily="34" charset="-120"/>
              </a:rPr>
              <a:t>SalesFlow</a:t>
            </a:r>
            <a:endParaRPr lang="en-US" sz="10000" dirty="0"/>
          </a:p>
        </p:txBody>
      </p:sp>
      <p:sp>
        <p:nvSpPr>
          <p:cNvPr id="16" name="Text 14"/>
          <p:cNvSpPr/>
          <p:nvPr/>
        </p:nvSpPr>
        <p:spPr>
          <a:xfrm>
            <a:off x="812800" y="5049520"/>
            <a:ext cx="7194550" cy="817880"/>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C9D3E0"/>
                </a:solidFill>
                <a:latin typeface="IBM Plex Sans" pitchFamily="34" charset="0"/>
                <a:ea typeface="IBM Plex Sans" pitchFamily="34" charset="-122"/>
                <a:cs typeface="IBM Plex Sans" pitchFamily="34" charset="-120"/>
              </a:rPr>
              <a:t>Receita por categoria e marca: sequencial, paralelo e distribuído</a:t>
            </a:r>
            <a:endParaRPr lang="en-US" sz="2600" dirty="0"/>
          </a:p>
        </p:txBody>
      </p:sp>
      <p:sp>
        <p:nvSpPr>
          <p:cNvPr id="17" name="Text 15"/>
          <p:cNvSpPr/>
          <p:nvPr/>
        </p:nvSpPr>
        <p:spPr>
          <a:xfrm>
            <a:off x="812800" y="62382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9BD"/>
                </a:solidFill>
                <a:latin typeface="IBM Plex Sans" pitchFamily="34" charset="0"/>
                <a:ea typeface="IBM Plex Sans" pitchFamily="34" charset="-122"/>
                <a:cs typeface="IBM Plex Sans" pitchFamily="34" charset="-120"/>
              </a:rPr>
              <a:t>Base sintética no esquema do Kaggle · 5.000.000 linhas · 552 MB · github.com/zaccmarc/salesflow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0F1B2D"/>
                </a:solidFill>
                <a:latin typeface="Rubik" pitchFamily="34" charset="0"/>
                <a:ea typeface="Rubik" pitchFamily="34" charset="-122"/>
                <a:cs typeface="Rubik" pitchFamily="34" charset="-120"/>
              </a:rPr>
              <a:t>O que foi construído</a:t>
            </a:r>
            <a:endParaRPr lang="en-US" sz="3600" dirty="0"/>
          </a:p>
        </p:txBody>
      </p:sp>
      <p:sp>
        <p:nvSpPr>
          <p:cNvPr id="3" name="Shape 1"/>
          <p:cNvSpPr/>
          <p:nvPr/>
        </p:nvSpPr>
        <p:spPr>
          <a:xfrm>
            <a:off x="815975" y="1595755"/>
            <a:ext cx="3380317" cy="2009281"/>
          </a:xfrm>
          <a:prstGeom prst="roundRect">
            <a:avLst>
              <a:gd name="adj" fmla="val 4899"/>
            </a:avLst>
          </a:prstGeom>
          <a:solidFill>
            <a:srgbClr val="FCFBF8"/>
          </a:solidFill>
          <a:ln w="6350">
            <a:solidFill>
              <a:srgbClr val="E1DED6"/>
            </a:solidFill>
            <a:prstDash val="solid"/>
          </a:ln>
        </p:spPr>
      </p:sp>
      <p:sp>
        <p:nvSpPr>
          <p:cNvPr id="4" name="Text 2"/>
          <p:cNvSpPr/>
          <p:nvPr/>
        </p:nvSpPr>
        <p:spPr>
          <a:xfrm>
            <a:off x="1071316" y="1851096"/>
            <a:ext cx="29557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6B"/>
                </a:solidFill>
                <a:latin typeface="IBM Plex Sans" pitchFamily="34" charset="0"/>
                <a:ea typeface="IBM Plex Sans" pitchFamily="34" charset="-122"/>
                <a:cs typeface="IBM Plex Sans" pitchFamily="34" charset="-120"/>
              </a:rPr>
              <a:t>1 · BASELINE</a:t>
            </a:r>
            <a:endParaRPr lang="en-US" sz="1200" dirty="0"/>
          </a:p>
        </p:txBody>
      </p:sp>
      <p:sp>
        <p:nvSpPr>
          <p:cNvPr id="5" name="Text 3"/>
          <p:cNvSpPr/>
          <p:nvPr/>
        </p:nvSpPr>
        <p:spPr>
          <a:xfrm>
            <a:off x="1071316" y="2166056"/>
            <a:ext cx="2955725"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Rubik" pitchFamily="34" charset="0"/>
                <a:ea typeface="Rubik" pitchFamily="34" charset="-122"/>
                <a:cs typeface="Rubik" pitchFamily="34" charset="-120"/>
              </a:rPr>
              <a:t>Sequencial</a:t>
            </a:r>
            <a:endParaRPr lang="en-US" sz="2200" dirty="0"/>
          </a:p>
        </p:txBody>
      </p:sp>
      <p:sp>
        <p:nvSpPr>
          <p:cNvPr id="6" name="Text 4"/>
          <p:cNvSpPr/>
          <p:nvPr/>
        </p:nvSpPr>
        <p:spPr>
          <a:xfrm>
            <a:off x="1071316" y="2602936"/>
            <a:ext cx="295572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Um único loop lê o arquivo inteiro. Serve de referência de tempo e de correção.</a:t>
            </a:r>
            <a:endParaRPr lang="en-US" sz="1400" dirty="0"/>
          </a:p>
        </p:txBody>
      </p:sp>
      <p:sp>
        <p:nvSpPr>
          <p:cNvPr id="7" name="Shape 5"/>
          <p:cNvSpPr/>
          <p:nvPr/>
        </p:nvSpPr>
        <p:spPr>
          <a:xfrm>
            <a:off x="4405842" y="1595755"/>
            <a:ext cx="3380317" cy="2009281"/>
          </a:xfrm>
          <a:prstGeom prst="roundRect">
            <a:avLst>
              <a:gd name="adj" fmla="val 4899"/>
            </a:avLst>
          </a:prstGeom>
          <a:solidFill>
            <a:srgbClr val="FCFBF8"/>
          </a:solidFill>
          <a:ln w="6350">
            <a:solidFill>
              <a:srgbClr val="E1DED6"/>
            </a:solidFill>
            <a:prstDash val="solid"/>
          </a:ln>
        </p:spPr>
      </p:sp>
      <p:sp>
        <p:nvSpPr>
          <p:cNvPr id="8" name="Text 6"/>
          <p:cNvSpPr/>
          <p:nvPr/>
        </p:nvSpPr>
        <p:spPr>
          <a:xfrm>
            <a:off x="4661182" y="1851096"/>
            <a:ext cx="29557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6B"/>
                </a:solidFill>
                <a:latin typeface="IBM Plex Sans" pitchFamily="34" charset="0"/>
                <a:ea typeface="IBM Plex Sans" pitchFamily="34" charset="-122"/>
                <a:cs typeface="IBM Plex Sans" pitchFamily="34" charset="-120"/>
              </a:rPr>
              <a:t>2 · PARALELO</a:t>
            </a:r>
            <a:endParaRPr lang="en-US" sz="1200" dirty="0"/>
          </a:p>
        </p:txBody>
      </p:sp>
      <p:sp>
        <p:nvSpPr>
          <p:cNvPr id="9" name="Text 7"/>
          <p:cNvSpPr/>
          <p:nvPr/>
        </p:nvSpPr>
        <p:spPr>
          <a:xfrm>
            <a:off x="4661182" y="2166056"/>
            <a:ext cx="2955725"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Rubik" pitchFamily="34" charset="0"/>
                <a:ea typeface="Rubik" pitchFamily="34" charset="-122"/>
                <a:cs typeface="Rubik" pitchFamily="34" charset="-120"/>
              </a:rPr>
              <a:t>Uma máquina</a:t>
            </a:r>
            <a:endParaRPr lang="en-US" sz="2200" dirty="0"/>
          </a:p>
        </p:txBody>
      </p:sp>
      <p:sp>
        <p:nvSpPr>
          <p:cNvPr id="10" name="Text 8"/>
          <p:cNvSpPr/>
          <p:nvPr/>
        </p:nvSpPr>
        <p:spPr>
          <a:xfrm>
            <a:off x="4661182" y="2602936"/>
            <a:ext cx="295572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O arquivo é cortado em blocos de bytes. Threads e processos dividem o trabalho.</a:t>
            </a:r>
            <a:endParaRPr lang="en-US" sz="1400" dirty="0"/>
          </a:p>
        </p:txBody>
      </p:sp>
      <p:sp>
        <p:nvSpPr>
          <p:cNvPr id="11" name="Shape 9"/>
          <p:cNvSpPr/>
          <p:nvPr/>
        </p:nvSpPr>
        <p:spPr>
          <a:xfrm>
            <a:off x="7995709" y="1595755"/>
            <a:ext cx="3380317" cy="2009281"/>
          </a:xfrm>
          <a:prstGeom prst="roundRect">
            <a:avLst>
              <a:gd name="adj" fmla="val 4899"/>
            </a:avLst>
          </a:prstGeom>
          <a:solidFill>
            <a:srgbClr val="FCFBF8"/>
          </a:solidFill>
          <a:ln w="6350">
            <a:solidFill>
              <a:srgbClr val="E1DED6"/>
            </a:solidFill>
            <a:prstDash val="solid"/>
          </a:ln>
        </p:spPr>
      </p:sp>
      <p:sp>
        <p:nvSpPr>
          <p:cNvPr id="12" name="Text 10"/>
          <p:cNvSpPr/>
          <p:nvPr/>
        </p:nvSpPr>
        <p:spPr>
          <a:xfrm>
            <a:off x="8251049" y="1851096"/>
            <a:ext cx="29557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6B"/>
                </a:solidFill>
                <a:latin typeface="IBM Plex Sans" pitchFamily="34" charset="0"/>
                <a:ea typeface="IBM Plex Sans" pitchFamily="34" charset="-122"/>
                <a:cs typeface="IBM Plex Sans" pitchFamily="34" charset="-120"/>
              </a:rPr>
              <a:t>3 · DISTRIBUÍDO</a:t>
            </a:r>
            <a:endParaRPr lang="en-US" sz="1200" dirty="0"/>
          </a:p>
        </p:txBody>
      </p:sp>
      <p:sp>
        <p:nvSpPr>
          <p:cNvPr id="13" name="Text 11"/>
          <p:cNvSpPr/>
          <p:nvPr/>
        </p:nvSpPr>
        <p:spPr>
          <a:xfrm>
            <a:off x="8251049" y="2166056"/>
            <a:ext cx="2955725"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Rubik" pitchFamily="34" charset="0"/>
                <a:ea typeface="Rubik" pitchFamily="34" charset="-122"/>
                <a:cs typeface="Rubik" pitchFamily="34" charset="-120"/>
              </a:rPr>
              <a:t>Rede</a:t>
            </a:r>
            <a:endParaRPr lang="en-US" sz="2200" dirty="0"/>
          </a:p>
        </p:txBody>
      </p:sp>
      <p:sp>
        <p:nvSpPr>
          <p:cNvPr id="14" name="Text 12"/>
          <p:cNvSpPr/>
          <p:nvPr/>
        </p:nvSpPr>
        <p:spPr>
          <a:xfrm>
            <a:off x="8251049" y="2602936"/>
            <a:ext cx="295572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Um coordenador envia blocos por HTTP a 3 workers e reatribui o bloco se um worker cair.</a:t>
            </a:r>
            <a:endParaRPr lang="en-US" sz="1400" dirty="0"/>
          </a:p>
        </p:txBody>
      </p:sp>
      <p:sp>
        <p:nvSpPr>
          <p:cNvPr id="15" name="Shape 13"/>
          <p:cNvSpPr/>
          <p:nvPr/>
        </p:nvSpPr>
        <p:spPr>
          <a:xfrm>
            <a:off x="812800" y="3862212"/>
            <a:ext cx="10566400" cy="1358900"/>
          </a:xfrm>
          <a:prstGeom prst="roundRect">
            <a:avLst>
              <a:gd name="adj" fmla="val 7477"/>
            </a:avLst>
          </a:prstGeom>
          <a:solidFill>
            <a:srgbClr val="0F1B2D"/>
          </a:solidFill>
          <a:ln/>
        </p:spPr>
      </p:sp>
      <p:sp>
        <p:nvSpPr>
          <p:cNvPr id="16" name="Text 14"/>
          <p:cNvSpPr/>
          <p:nvPr/>
        </p:nvSpPr>
        <p:spPr>
          <a:xfrm>
            <a:off x="1117600" y="4116212"/>
            <a:ext cx="3209205"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4FD1B5"/>
                </a:solidFill>
                <a:latin typeface="Rubik" pitchFamily="34" charset="0"/>
                <a:ea typeface="Rubik" pitchFamily="34" charset="-122"/>
                <a:cs typeface="Rubik" pitchFamily="34" charset="-120"/>
              </a:rPr>
              <a:t>191.052</a:t>
            </a:r>
            <a:endParaRPr lang="en-US" sz="3200" dirty="0"/>
          </a:p>
        </p:txBody>
      </p:sp>
      <p:sp>
        <p:nvSpPr>
          <p:cNvPr id="17" name="Text 15"/>
          <p:cNvSpPr/>
          <p:nvPr/>
        </p:nvSpPr>
        <p:spPr>
          <a:xfrm>
            <a:off x="1117600" y="4735971"/>
            <a:ext cx="320920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compras válidas</a:t>
            </a:r>
            <a:endParaRPr lang="en-US" sz="1300" dirty="0"/>
          </a:p>
        </p:txBody>
      </p:sp>
      <p:sp>
        <p:nvSpPr>
          <p:cNvPr id="18" name="Text 16"/>
          <p:cNvSpPr/>
          <p:nvPr/>
        </p:nvSpPr>
        <p:spPr>
          <a:xfrm>
            <a:off x="4538133" y="4116212"/>
            <a:ext cx="3209205"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4FD1B5"/>
                </a:solidFill>
                <a:latin typeface="Rubik" pitchFamily="34" charset="0"/>
                <a:ea typeface="Rubik" pitchFamily="34" charset="-122"/>
                <a:cs typeface="Rubik" pitchFamily="34" charset="-120"/>
              </a:rPr>
              <a:t>9.105</a:t>
            </a:r>
            <a:endParaRPr lang="en-US" sz="3200" dirty="0"/>
          </a:p>
        </p:txBody>
      </p:sp>
      <p:sp>
        <p:nvSpPr>
          <p:cNvPr id="19" name="Text 17"/>
          <p:cNvSpPr/>
          <p:nvPr/>
        </p:nvSpPr>
        <p:spPr>
          <a:xfrm>
            <a:off x="4538133" y="4735971"/>
            <a:ext cx="320920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compras inválidas, descartadas</a:t>
            </a:r>
            <a:endParaRPr lang="en-US" sz="1300" dirty="0"/>
          </a:p>
        </p:txBody>
      </p:sp>
      <p:sp>
        <p:nvSpPr>
          <p:cNvPr id="20" name="Text 18"/>
          <p:cNvSpPr/>
          <p:nvPr/>
        </p:nvSpPr>
        <p:spPr>
          <a:xfrm>
            <a:off x="7958667" y="4116212"/>
            <a:ext cx="3209205"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4FD1B5"/>
                </a:solidFill>
                <a:latin typeface="Rubik" pitchFamily="34" charset="0"/>
                <a:ea typeface="Rubik" pitchFamily="34" charset="-122"/>
                <a:cs typeface="Rubik" pitchFamily="34" charset="-120"/>
              </a:rPr>
              <a:t>4.799.843</a:t>
            </a:r>
            <a:endParaRPr lang="en-US" sz="3200" dirty="0"/>
          </a:p>
        </p:txBody>
      </p:sp>
      <p:sp>
        <p:nvSpPr>
          <p:cNvPr id="21" name="Text 19"/>
          <p:cNvSpPr/>
          <p:nvPr/>
        </p:nvSpPr>
        <p:spPr>
          <a:xfrm>
            <a:off x="7958667" y="4735971"/>
            <a:ext cx="320920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linhas ignoradas, não são compra</a:t>
            </a:r>
            <a:endParaRPr lang="en-US" sz="1300" dirty="0"/>
          </a:p>
        </p:txBody>
      </p:sp>
      <p:sp>
        <p:nvSpPr>
          <p:cNvPr id="22" name="Text 20"/>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Resultado do baseline sobre 5.000.000 linhas · receita somada em centavos inteiros, para comparar as versões com igualdade exata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0F1B2D"/>
                </a:solidFill>
                <a:latin typeface="Rubik" pitchFamily="34" charset="0"/>
                <a:ea typeface="Rubik" pitchFamily="34" charset="-122"/>
                <a:cs typeface="Rubik" pitchFamily="34" charset="-120"/>
              </a:rPr>
              <a:t>Como funciona</a:t>
            </a:r>
            <a:endParaRPr lang="en-US" sz="3600" dirty="0"/>
          </a:p>
        </p:txBody>
      </p:sp>
      <p:sp>
        <p:nvSpPr>
          <p:cNvPr id="3" name="Text 1"/>
          <p:cNvSpPr/>
          <p:nvPr/>
        </p:nvSpPr>
        <p:spPr>
          <a:xfrm>
            <a:off x="812800" y="16433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0E7C6B"/>
                </a:solidFill>
                <a:latin typeface="IBM Plex Sans" pitchFamily="34" charset="0"/>
                <a:ea typeface="IBM Plex Sans" pitchFamily="34" charset="-122"/>
                <a:cs typeface="IBM Plex Sans" pitchFamily="34" charset="-120"/>
              </a:rPr>
              <a:t>PARALELO · UMA MÁQUINA</a:t>
            </a:r>
            <a:endParaRPr lang="en-US" sz="1400" dirty="0"/>
          </a:p>
        </p:txBody>
      </p:sp>
      <p:sp>
        <p:nvSpPr>
          <p:cNvPr id="4" name="Shape 2"/>
          <p:cNvSpPr/>
          <p:nvPr/>
        </p:nvSpPr>
        <p:spPr>
          <a:xfrm>
            <a:off x="815975" y="1997075"/>
            <a:ext cx="2292350" cy="1064401"/>
          </a:xfrm>
          <a:prstGeom prst="roundRect">
            <a:avLst>
              <a:gd name="adj" fmla="val 6861"/>
            </a:avLst>
          </a:prstGeom>
          <a:solidFill>
            <a:srgbClr val="FCFBF8"/>
          </a:solidFill>
          <a:ln w="6350">
            <a:solidFill>
              <a:srgbClr val="E1DED6"/>
            </a:solidFill>
            <a:prstDash val="solid"/>
          </a:ln>
        </p:spPr>
      </p:sp>
      <p:sp>
        <p:nvSpPr>
          <p:cNvPr id="5" name="Text 3"/>
          <p:cNvSpPr/>
          <p:nvPr/>
        </p:nvSpPr>
        <p:spPr>
          <a:xfrm>
            <a:off x="969716" y="2150816"/>
            <a:ext cx="204441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Rubik" pitchFamily="34" charset="0"/>
                <a:ea typeface="Rubik" pitchFamily="34" charset="-122"/>
                <a:cs typeface="Rubik" pitchFamily="34" charset="-120"/>
              </a:rPr>
              <a:t>Dividir</a:t>
            </a:r>
            <a:endParaRPr lang="en-US" sz="1600" dirty="0"/>
          </a:p>
        </p:txBody>
      </p:sp>
      <p:sp>
        <p:nvSpPr>
          <p:cNvPr id="6" name="Text 4"/>
          <p:cNvSpPr/>
          <p:nvPr/>
        </p:nvSpPr>
        <p:spPr>
          <a:xfrm>
            <a:off x="969716" y="2445455"/>
            <a:ext cx="204441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Blocos por intervalo de bytes</a:t>
            </a:r>
            <a:endParaRPr lang="en-US" sz="1300" dirty="0"/>
          </a:p>
        </p:txBody>
      </p:sp>
      <p:pic>
        <p:nvPicPr>
          <p:cNvPr id="7" name="Image 0" descr="arrow-right">    </p:cNvPr>
          <p:cNvPicPr>
            <a:picLocks noChangeAspect="1"/>
          </p:cNvPicPr>
          <p:nvPr/>
        </p:nvPicPr>
        <p:blipFill>
          <a:blip r:embed="rId1"/>
          <a:srcRect l="0" r="0" t="0" b="0"/>
          <a:stretch/>
        </p:blipFill>
        <p:spPr>
          <a:xfrm>
            <a:off x="3213100" y="2453077"/>
            <a:ext cx="254000" cy="152400"/>
          </a:xfrm>
          <a:prstGeom prst="rect">
            <a:avLst/>
          </a:prstGeom>
        </p:spPr>
      </p:pic>
      <p:sp>
        <p:nvSpPr>
          <p:cNvPr id="8" name="Shape 5"/>
          <p:cNvSpPr/>
          <p:nvPr/>
        </p:nvSpPr>
        <p:spPr>
          <a:xfrm>
            <a:off x="3571875" y="1997075"/>
            <a:ext cx="2292350" cy="1064401"/>
          </a:xfrm>
          <a:prstGeom prst="roundRect">
            <a:avLst>
              <a:gd name="adj" fmla="val 6861"/>
            </a:avLst>
          </a:prstGeom>
          <a:solidFill>
            <a:srgbClr val="FCFBF8"/>
          </a:solidFill>
          <a:ln w="6350">
            <a:solidFill>
              <a:srgbClr val="E1DED6"/>
            </a:solidFill>
            <a:prstDash val="solid"/>
          </a:ln>
        </p:spPr>
      </p:sp>
      <p:sp>
        <p:nvSpPr>
          <p:cNvPr id="9" name="Text 6"/>
          <p:cNvSpPr/>
          <p:nvPr/>
        </p:nvSpPr>
        <p:spPr>
          <a:xfrm>
            <a:off x="3725616" y="2150816"/>
            <a:ext cx="204441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Rubik" pitchFamily="34" charset="0"/>
                <a:ea typeface="Rubik" pitchFamily="34" charset="-122"/>
                <a:cs typeface="Rubik" pitchFamily="34" charset="-120"/>
              </a:rPr>
              <a:t>Executar</a:t>
            </a:r>
            <a:endParaRPr lang="en-US" sz="1600" dirty="0"/>
          </a:p>
        </p:txBody>
      </p:sp>
      <p:sp>
        <p:nvSpPr>
          <p:cNvPr id="10" name="Text 7"/>
          <p:cNvSpPr/>
          <p:nvPr/>
        </p:nvSpPr>
        <p:spPr>
          <a:xfrm>
            <a:off x="3725616" y="2445455"/>
            <a:ext cx="204441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Pool de threads ou de processos</a:t>
            </a:r>
            <a:endParaRPr lang="en-US" sz="1300" dirty="0"/>
          </a:p>
        </p:txBody>
      </p:sp>
      <p:pic>
        <p:nvPicPr>
          <p:cNvPr id="11" name="Image 1" descr="arrow-right">    </p:cNvPr>
          <p:cNvPicPr>
            <a:picLocks noChangeAspect="1"/>
          </p:cNvPicPr>
          <p:nvPr/>
        </p:nvPicPr>
        <p:blipFill>
          <a:blip r:embed="rId2"/>
          <a:srcRect l="0" r="0" t="0" b="0"/>
          <a:stretch/>
        </p:blipFill>
        <p:spPr>
          <a:xfrm>
            <a:off x="5969000" y="2453077"/>
            <a:ext cx="254000" cy="152400"/>
          </a:xfrm>
          <a:prstGeom prst="rect">
            <a:avLst/>
          </a:prstGeom>
        </p:spPr>
      </p:pic>
      <p:sp>
        <p:nvSpPr>
          <p:cNvPr id="12" name="Shape 8"/>
          <p:cNvSpPr/>
          <p:nvPr/>
        </p:nvSpPr>
        <p:spPr>
          <a:xfrm>
            <a:off x="6327775" y="1997075"/>
            <a:ext cx="2292350" cy="1064401"/>
          </a:xfrm>
          <a:prstGeom prst="roundRect">
            <a:avLst>
              <a:gd name="adj" fmla="val 6861"/>
            </a:avLst>
          </a:prstGeom>
          <a:solidFill>
            <a:srgbClr val="FCFBF8"/>
          </a:solidFill>
          <a:ln w="6350">
            <a:solidFill>
              <a:srgbClr val="E1DED6"/>
            </a:solidFill>
            <a:prstDash val="solid"/>
          </a:ln>
        </p:spPr>
      </p:sp>
      <p:sp>
        <p:nvSpPr>
          <p:cNvPr id="13" name="Text 9"/>
          <p:cNvSpPr/>
          <p:nvPr/>
        </p:nvSpPr>
        <p:spPr>
          <a:xfrm>
            <a:off x="6481516" y="2150816"/>
            <a:ext cx="204441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Rubik" pitchFamily="34" charset="0"/>
                <a:ea typeface="Rubik" pitchFamily="34" charset="-122"/>
                <a:cs typeface="Rubik" pitchFamily="34" charset="-120"/>
              </a:rPr>
              <a:t>Agregar</a:t>
            </a:r>
            <a:endParaRPr lang="en-US" sz="1600" dirty="0"/>
          </a:p>
        </p:txBody>
      </p:sp>
      <p:sp>
        <p:nvSpPr>
          <p:cNvPr id="14" name="Text 10"/>
          <p:cNvSpPr/>
          <p:nvPr/>
        </p:nvSpPr>
        <p:spPr>
          <a:xfrm>
            <a:off x="6481516" y="2445455"/>
            <a:ext cx="204441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Cada worker devolve um total local</a:t>
            </a:r>
            <a:endParaRPr lang="en-US" sz="1300" dirty="0"/>
          </a:p>
        </p:txBody>
      </p:sp>
      <p:pic>
        <p:nvPicPr>
          <p:cNvPr id="15" name="Image 2" descr="arrow-right">    </p:cNvPr>
          <p:cNvPicPr>
            <a:picLocks noChangeAspect="1"/>
          </p:cNvPicPr>
          <p:nvPr/>
        </p:nvPicPr>
        <p:blipFill>
          <a:blip r:embed="rId3"/>
          <a:srcRect l="0" r="0" t="0" b="0"/>
          <a:stretch/>
        </p:blipFill>
        <p:spPr>
          <a:xfrm>
            <a:off x="8724900" y="2453077"/>
            <a:ext cx="254000" cy="152400"/>
          </a:xfrm>
          <a:prstGeom prst="rect">
            <a:avLst/>
          </a:prstGeom>
        </p:spPr>
      </p:pic>
      <p:sp>
        <p:nvSpPr>
          <p:cNvPr id="16" name="Shape 11"/>
          <p:cNvSpPr/>
          <p:nvPr/>
        </p:nvSpPr>
        <p:spPr>
          <a:xfrm>
            <a:off x="9083675" y="1997075"/>
            <a:ext cx="2292350" cy="1064401"/>
          </a:xfrm>
          <a:prstGeom prst="roundRect">
            <a:avLst>
              <a:gd name="adj" fmla="val 6861"/>
            </a:avLst>
          </a:prstGeom>
          <a:solidFill>
            <a:srgbClr val="FCFBF8"/>
          </a:solidFill>
          <a:ln w="6350">
            <a:solidFill>
              <a:srgbClr val="E1DED6"/>
            </a:solidFill>
            <a:prstDash val="solid"/>
          </a:ln>
        </p:spPr>
      </p:sp>
      <p:sp>
        <p:nvSpPr>
          <p:cNvPr id="17" name="Text 12"/>
          <p:cNvSpPr/>
          <p:nvPr/>
        </p:nvSpPr>
        <p:spPr>
          <a:xfrm>
            <a:off x="9237416" y="2150816"/>
            <a:ext cx="204441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Rubik" pitchFamily="34" charset="0"/>
                <a:ea typeface="Rubik" pitchFamily="34" charset="-122"/>
                <a:cs typeface="Rubik" pitchFamily="34" charset="-120"/>
              </a:rPr>
              <a:t>Combinar</a:t>
            </a:r>
            <a:endParaRPr lang="en-US" sz="1600" dirty="0"/>
          </a:p>
        </p:txBody>
      </p:sp>
      <p:sp>
        <p:nvSpPr>
          <p:cNvPr id="18" name="Text 13"/>
          <p:cNvSpPr/>
          <p:nvPr/>
        </p:nvSpPr>
        <p:spPr>
          <a:xfrm>
            <a:off x="9237416" y="2445455"/>
            <a:ext cx="204441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Soma os totais e confere com o baseline</a:t>
            </a:r>
            <a:endParaRPr lang="en-US" sz="1300" dirty="0"/>
          </a:p>
        </p:txBody>
      </p:sp>
      <p:sp>
        <p:nvSpPr>
          <p:cNvPr id="19" name="Text 14"/>
          <p:cNvSpPr/>
          <p:nvPr/>
        </p:nvSpPr>
        <p:spPr>
          <a:xfrm>
            <a:off x="812800" y="336945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F5DA8"/>
                </a:solidFill>
                <a:latin typeface="IBM Plex Sans" pitchFamily="34" charset="0"/>
                <a:ea typeface="IBM Plex Sans" pitchFamily="34" charset="-122"/>
                <a:cs typeface="IBM Plex Sans" pitchFamily="34" charset="-120"/>
              </a:rPr>
              <a:t>DISTRIBUÍDO · REDE</a:t>
            </a:r>
            <a:endParaRPr lang="en-US" sz="1400" dirty="0"/>
          </a:p>
        </p:txBody>
      </p:sp>
      <p:sp>
        <p:nvSpPr>
          <p:cNvPr id="20" name="Shape 15"/>
          <p:cNvSpPr/>
          <p:nvPr/>
        </p:nvSpPr>
        <p:spPr>
          <a:xfrm>
            <a:off x="815975" y="3723146"/>
            <a:ext cx="2292350" cy="1295541"/>
          </a:xfrm>
          <a:prstGeom prst="roundRect">
            <a:avLst>
              <a:gd name="adj" fmla="val 5637"/>
            </a:avLst>
          </a:prstGeom>
          <a:solidFill>
            <a:srgbClr val="FCFBF8"/>
          </a:solidFill>
          <a:ln w="6350">
            <a:solidFill>
              <a:srgbClr val="E1DED6"/>
            </a:solidFill>
            <a:prstDash val="solid"/>
          </a:ln>
        </p:spPr>
      </p:sp>
      <p:sp>
        <p:nvSpPr>
          <p:cNvPr id="21" name="Text 16"/>
          <p:cNvSpPr/>
          <p:nvPr/>
        </p:nvSpPr>
        <p:spPr>
          <a:xfrm>
            <a:off x="969716" y="3876887"/>
            <a:ext cx="204441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Rubik" pitchFamily="34" charset="0"/>
                <a:ea typeface="Rubik" pitchFamily="34" charset="-122"/>
                <a:cs typeface="Rubik" pitchFamily="34" charset="-120"/>
              </a:rPr>
              <a:t>Enfileirar</a:t>
            </a:r>
            <a:endParaRPr lang="en-US" sz="1600" dirty="0"/>
          </a:p>
        </p:txBody>
      </p:sp>
      <p:sp>
        <p:nvSpPr>
          <p:cNvPr id="22" name="Text 17"/>
          <p:cNvSpPr/>
          <p:nvPr/>
        </p:nvSpPr>
        <p:spPr>
          <a:xfrm>
            <a:off x="969716" y="4171527"/>
            <a:ext cx="204441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O coordenador cria a fila de blocos</a:t>
            </a:r>
            <a:endParaRPr lang="en-US" sz="1300" dirty="0"/>
          </a:p>
        </p:txBody>
      </p:sp>
      <p:pic>
        <p:nvPicPr>
          <p:cNvPr id="23" name="Image 3" descr="arrow-right">    </p:cNvPr>
          <p:cNvPicPr>
            <a:picLocks noChangeAspect="1"/>
          </p:cNvPicPr>
          <p:nvPr/>
        </p:nvPicPr>
        <p:blipFill>
          <a:blip r:embed="rId4"/>
          <a:srcRect l="0" r="0" t="0" b="0"/>
          <a:stretch/>
        </p:blipFill>
        <p:spPr>
          <a:xfrm>
            <a:off x="3213100" y="4294718"/>
            <a:ext cx="254000" cy="152400"/>
          </a:xfrm>
          <a:prstGeom prst="rect">
            <a:avLst/>
          </a:prstGeom>
        </p:spPr>
      </p:pic>
      <p:sp>
        <p:nvSpPr>
          <p:cNvPr id="24" name="Shape 18"/>
          <p:cNvSpPr/>
          <p:nvPr/>
        </p:nvSpPr>
        <p:spPr>
          <a:xfrm>
            <a:off x="3571875" y="3723146"/>
            <a:ext cx="2292350" cy="1295541"/>
          </a:xfrm>
          <a:prstGeom prst="roundRect">
            <a:avLst>
              <a:gd name="adj" fmla="val 5637"/>
            </a:avLst>
          </a:prstGeom>
          <a:solidFill>
            <a:srgbClr val="FCFBF8"/>
          </a:solidFill>
          <a:ln w="6350">
            <a:solidFill>
              <a:srgbClr val="E1DED6"/>
            </a:solidFill>
            <a:prstDash val="solid"/>
          </a:ln>
        </p:spPr>
      </p:sp>
      <p:sp>
        <p:nvSpPr>
          <p:cNvPr id="25" name="Text 19"/>
          <p:cNvSpPr/>
          <p:nvPr/>
        </p:nvSpPr>
        <p:spPr>
          <a:xfrm>
            <a:off x="3725616" y="3876887"/>
            <a:ext cx="204441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Rubik" pitchFamily="34" charset="0"/>
                <a:ea typeface="Rubik" pitchFamily="34" charset="-122"/>
                <a:cs typeface="Rubik" pitchFamily="34" charset="-120"/>
              </a:rPr>
              <a:t>Despachar</a:t>
            </a:r>
            <a:endParaRPr lang="en-US" sz="1600" dirty="0"/>
          </a:p>
        </p:txBody>
      </p:sp>
      <p:sp>
        <p:nvSpPr>
          <p:cNvPr id="26" name="Text 20"/>
          <p:cNvSpPr/>
          <p:nvPr/>
        </p:nvSpPr>
        <p:spPr>
          <a:xfrm>
            <a:off x="3725616" y="4171527"/>
            <a:ext cx="204441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Requisição HTTP a cada um dos 3 workers</a:t>
            </a:r>
            <a:endParaRPr lang="en-US" sz="1300" dirty="0"/>
          </a:p>
        </p:txBody>
      </p:sp>
      <p:pic>
        <p:nvPicPr>
          <p:cNvPr id="27" name="Image 4" descr="arrow-right">    </p:cNvPr>
          <p:cNvPicPr>
            <a:picLocks noChangeAspect="1"/>
          </p:cNvPicPr>
          <p:nvPr/>
        </p:nvPicPr>
        <p:blipFill>
          <a:blip r:embed="rId5"/>
          <a:srcRect l="0" r="0" t="0" b="0"/>
          <a:stretch/>
        </p:blipFill>
        <p:spPr>
          <a:xfrm>
            <a:off x="5969000" y="4294718"/>
            <a:ext cx="254000" cy="152400"/>
          </a:xfrm>
          <a:prstGeom prst="rect">
            <a:avLst/>
          </a:prstGeom>
        </p:spPr>
      </p:pic>
      <p:sp>
        <p:nvSpPr>
          <p:cNvPr id="28" name="Shape 21"/>
          <p:cNvSpPr/>
          <p:nvPr/>
        </p:nvSpPr>
        <p:spPr>
          <a:xfrm>
            <a:off x="6327775" y="3723146"/>
            <a:ext cx="2292350" cy="1295541"/>
          </a:xfrm>
          <a:prstGeom prst="roundRect">
            <a:avLst>
              <a:gd name="adj" fmla="val 5637"/>
            </a:avLst>
          </a:prstGeom>
          <a:solidFill>
            <a:srgbClr val="FCFBF8"/>
          </a:solidFill>
          <a:ln w="6350">
            <a:solidFill>
              <a:srgbClr val="E1DED6"/>
            </a:solidFill>
            <a:prstDash val="solid"/>
          </a:ln>
        </p:spPr>
      </p:sp>
      <p:sp>
        <p:nvSpPr>
          <p:cNvPr id="29" name="Text 22"/>
          <p:cNvSpPr/>
          <p:nvPr/>
        </p:nvSpPr>
        <p:spPr>
          <a:xfrm>
            <a:off x="6481516" y="3876887"/>
            <a:ext cx="204441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Rubik" pitchFamily="34" charset="0"/>
                <a:ea typeface="Rubik" pitchFamily="34" charset="-122"/>
                <a:cs typeface="Rubik" pitchFamily="34" charset="-120"/>
              </a:rPr>
              <a:t>Reatribuir</a:t>
            </a:r>
            <a:endParaRPr lang="en-US" sz="1600" dirty="0"/>
          </a:p>
        </p:txBody>
      </p:sp>
      <p:sp>
        <p:nvSpPr>
          <p:cNvPr id="30" name="Text 23"/>
          <p:cNvSpPr/>
          <p:nvPr/>
        </p:nvSpPr>
        <p:spPr>
          <a:xfrm>
            <a:off x="6481516" y="4171527"/>
            <a:ext cx="2044415"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Em caso de timeout, o bloco volta à fila, com até 3 tentativas</a:t>
            </a:r>
            <a:endParaRPr lang="en-US" sz="1300" dirty="0"/>
          </a:p>
        </p:txBody>
      </p:sp>
      <p:pic>
        <p:nvPicPr>
          <p:cNvPr id="31" name="Image 5" descr="arrow-right">    </p:cNvPr>
          <p:cNvPicPr>
            <a:picLocks noChangeAspect="1"/>
          </p:cNvPicPr>
          <p:nvPr/>
        </p:nvPicPr>
        <p:blipFill>
          <a:blip r:embed="rId6"/>
          <a:srcRect l="0" r="0" t="0" b="0"/>
          <a:stretch/>
        </p:blipFill>
        <p:spPr>
          <a:xfrm>
            <a:off x="8724900" y="4294718"/>
            <a:ext cx="254000" cy="152400"/>
          </a:xfrm>
          <a:prstGeom prst="rect">
            <a:avLst/>
          </a:prstGeom>
        </p:spPr>
      </p:pic>
      <p:sp>
        <p:nvSpPr>
          <p:cNvPr id="32" name="Shape 24"/>
          <p:cNvSpPr/>
          <p:nvPr/>
        </p:nvSpPr>
        <p:spPr>
          <a:xfrm>
            <a:off x="9083675" y="3723146"/>
            <a:ext cx="2292350" cy="1295541"/>
          </a:xfrm>
          <a:prstGeom prst="roundRect">
            <a:avLst>
              <a:gd name="adj" fmla="val 5637"/>
            </a:avLst>
          </a:prstGeom>
          <a:solidFill>
            <a:srgbClr val="FCFBF8"/>
          </a:solidFill>
          <a:ln w="6350">
            <a:solidFill>
              <a:srgbClr val="E1DED6"/>
            </a:solidFill>
            <a:prstDash val="solid"/>
          </a:ln>
        </p:spPr>
      </p:sp>
      <p:sp>
        <p:nvSpPr>
          <p:cNvPr id="33" name="Text 25"/>
          <p:cNvSpPr/>
          <p:nvPr/>
        </p:nvSpPr>
        <p:spPr>
          <a:xfrm>
            <a:off x="9237416" y="3876887"/>
            <a:ext cx="204441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Rubik" pitchFamily="34" charset="0"/>
                <a:ea typeface="Rubik" pitchFamily="34" charset="-122"/>
                <a:cs typeface="Rubik" pitchFamily="34" charset="-120"/>
              </a:rPr>
              <a:t>Juntar</a:t>
            </a:r>
            <a:endParaRPr lang="en-US" sz="1600" dirty="0"/>
          </a:p>
        </p:txBody>
      </p:sp>
      <p:sp>
        <p:nvSpPr>
          <p:cNvPr id="34" name="Text 26"/>
          <p:cNvSpPr/>
          <p:nvPr/>
        </p:nvSpPr>
        <p:spPr>
          <a:xfrm>
            <a:off x="9237416" y="4171527"/>
            <a:ext cx="2044415"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Um resultado por bloco; o total deve igualar o baseline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0F1B2D"/>
                </a:solidFill>
                <a:latin typeface="Rubik" pitchFamily="34" charset="0"/>
                <a:ea typeface="Rubik" pitchFamily="34" charset="-122"/>
                <a:cs typeface="Rubik" pitchFamily="34" charset="-120"/>
              </a:rPr>
              <a:t>Resultados</a:t>
            </a:r>
            <a:endParaRPr lang="en-US" sz="3600" dirty="0"/>
          </a:p>
        </p:txBody>
      </p:sp>
      <p:sp>
        <p:nvSpPr>
          <p:cNvPr id="3" name="Text 1"/>
          <p:cNvSpPr/>
          <p:nvPr/>
        </p:nvSpPr>
        <p:spPr>
          <a:xfrm>
            <a:off x="812800" y="1592580"/>
            <a:ext cx="3488267" cy="87884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0E7C6B"/>
                </a:solidFill>
                <a:latin typeface="Rubik" pitchFamily="34" charset="0"/>
                <a:ea typeface="Rubik" pitchFamily="34" charset="-122"/>
                <a:cs typeface="Rubik" pitchFamily="34" charset="-120"/>
              </a:rPr>
              <a:t>3,08x</a:t>
            </a:r>
            <a:endParaRPr lang="en-US" sz="4800" dirty="0"/>
          </a:p>
        </p:txBody>
      </p:sp>
      <p:sp>
        <p:nvSpPr>
          <p:cNvPr id="4" name="Text 2"/>
          <p:cNvSpPr/>
          <p:nvPr/>
        </p:nvSpPr>
        <p:spPr>
          <a:xfrm>
            <a:off x="812800" y="2496821"/>
            <a:ext cx="348826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processos, 8 workers</a:t>
            </a:r>
            <a:endParaRPr lang="en-US" sz="1400" dirty="0"/>
          </a:p>
        </p:txBody>
      </p:sp>
      <p:sp>
        <p:nvSpPr>
          <p:cNvPr id="5" name="Text 3"/>
          <p:cNvSpPr/>
          <p:nvPr/>
        </p:nvSpPr>
        <p:spPr>
          <a:xfrm>
            <a:off x="4402667" y="1592580"/>
            <a:ext cx="3488267" cy="87884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2F5DA8"/>
                </a:solidFill>
                <a:latin typeface="Rubik" pitchFamily="34" charset="0"/>
                <a:ea typeface="Rubik" pitchFamily="34" charset="-122"/>
                <a:cs typeface="Rubik" pitchFamily="34" charset="-120"/>
              </a:rPr>
              <a:t>1,99x</a:t>
            </a:r>
            <a:endParaRPr lang="en-US" sz="4800" dirty="0"/>
          </a:p>
        </p:txBody>
      </p:sp>
      <p:sp>
        <p:nvSpPr>
          <p:cNvPr id="6" name="Text 4"/>
          <p:cNvSpPr/>
          <p:nvPr/>
        </p:nvSpPr>
        <p:spPr>
          <a:xfrm>
            <a:off x="4402667" y="2496821"/>
            <a:ext cx="348826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distribuído, 3 workers</a:t>
            </a:r>
            <a:endParaRPr lang="en-US" sz="1400" dirty="0"/>
          </a:p>
        </p:txBody>
      </p:sp>
      <p:sp>
        <p:nvSpPr>
          <p:cNvPr id="7" name="Text 5"/>
          <p:cNvSpPr/>
          <p:nvPr/>
        </p:nvSpPr>
        <p:spPr>
          <a:xfrm>
            <a:off x="7992534" y="1592580"/>
            <a:ext cx="3488267" cy="87884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A8481A"/>
                </a:solidFill>
                <a:latin typeface="Rubik" pitchFamily="34" charset="0"/>
                <a:ea typeface="Rubik" pitchFamily="34" charset="-122"/>
                <a:cs typeface="Rubik" pitchFamily="34" charset="-120"/>
              </a:rPr>
              <a:t>0,59x</a:t>
            </a:r>
            <a:endParaRPr lang="en-US" sz="4800" dirty="0"/>
          </a:p>
        </p:txBody>
      </p:sp>
      <p:sp>
        <p:nvSpPr>
          <p:cNvPr id="8" name="Text 6"/>
          <p:cNvSpPr/>
          <p:nvPr/>
        </p:nvSpPr>
        <p:spPr>
          <a:xfrm>
            <a:off x="7992534" y="2496821"/>
            <a:ext cx="34882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0"/>
                </a:solidFill>
                <a:latin typeface="IBM Plex Sans" pitchFamily="34" charset="0"/>
                <a:ea typeface="IBM Plex Sans" pitchFamily="34" charset="-122"/>
                <a:cs typeface="IBM Plex Sans" pitchFamily="34" charset="-120"/>
              </a:rPr>
              <a:t>threads, 8 workers: mais lento que o baseline</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4089" y="3259950"/>
          <a:ext cx="10555111" cy="2190045"/>
        </p:xfrm>
        <a:graphic>
          <a:graphicData uri="http://schemas.openxmlformats.org/drawingml/2006/table">
            <a:tbl>
              <a:tblPr/>
              <a:tblGrid>
                <a:gridCol w="2955431"/>
                <a:gridCol w="1477716"/>
                <a:gridCol w="2955431"/>
                <a:gridCol w="3166533"/>
              </a:tblGrid>
              <a:tr h="438009">
                <a:tc>
                  <a:txBody>
                    <a:bodyPr/>
                    <a:lstStyle/>
                    <a:p>
                      <a:pPr indent="0" marL="0">
                        <a:lnSpc>
                          <a:spcPts val="2240"/>
                        </a:lnSpc>
                        <a:buNone/>
                      </a:pPr>
                      <a:r>
                        <a:rPr lang="en-US" sz="1600" b="1" dirty="0">
                          <a:solidFill>
                            <a:srgbClr val="1A2433"/>
                          </a:solidFill>
                          <a:latin typeface="IBM Plex Sans" pitchFamily="34" charset="0"/>
                          <a:ea typeface="IBM Plex Sans" pitchFamily="34" charset="-122"/>
                          <a:cs typeface="IBM Plex Sans" pitchFamily="34" charset="-120"/>
                        </a:rPr>
                        <a:t>Versão</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2240"/>
                        </a:lnSpc>
                        <a:buNone/>
                      </a:pPr>
                      <a:r>
                        <a:rPr lang="en-US" sz="1600" b="1" dirty="0">
                          <a:solidFill>
                            <a:srgbClr val="1A2433"/>
                          </a:solidFill>
                          <a:latin typeface="IBM Plex Sans" pitchFamily="34" charset="0"/>
                          <a:ea typeface="IBM Plex Sans" pitchFamily="34" charset="-122"/>
                          <a:cs typeface="IBM Plex Sans" pitchFamily="34" charset="-120"/>
                        </a:rPr>
                        <a:t>Workers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2240"/>
                        </a:lnSpc>
                        <a:buNone/>
                      </a:pPr>
                      <a:r>
                        <a:rPr lang="en-US" sz="1600" b="1" dirty="0">
                          <a:solidFill>
                            <a:srgbClr val="1A2433"/>
                          </a:solidFill>
                          <a:latin typeface="IBM Plex Sans" pitchFamily="34" charset="0"/>
                          <a:ea typeface="IBM Plex Sans" pitchFamily="34" charset="-122"/>
                          <a:cs typeface="IBM Plex Sans" pitchFamily="34" charset="-120"/>
                        </a:rPr>
                        <a:t>Tempo mediano (s)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2240"/>
                        </a:lnSpc>
                        <a:buNone/>
                      </a:pPr>
                      <a:r>
                        <a:rPr lang="en-US" sz="1600" b="1" dirty="0">
                          <a:solidFill>
                            <a:srgbClr val="1A2433"/>
                          </a:solidFill>
                          <a:latin typeface="IBM Plex Sans" pitchFamily="34" charset="0"/>
                          <a:ea typeface="IBM Plex Sans" pitchFamily="34" charset="-122"/>
                          <a:cs typeface="IBM Plex Sans" pitchFamily="34" charset="-120"/>
                        </a:rPr>
                        <a:t>Speedup</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438009">
                <a:tc>
                  <a:txBody>
                    <a:bodyPr/>
                    <a:lstStyle/>
                    <a:p>
                      <a:pPr indent="0" marL="0">
                        <a:lnSpc>
                          <a:spcPts val="2240"/>
                        </a:lnSpc>
                        <a:buNone/>
                      </a:pPr>
                      <a:r>
                        <a:rPr lang="en-US" sz="1600" dirty="0">
                          <a:solidFill>
                            <a:srgbClr val="1A2433"/>
                          </a:solidFill>
                          <a:latin typeface="IBM Plex Sans" pitchFamily="34" charset="0"/>
                          <a:ea typeface="IBM Plex Sans" pitchFamily="34" charset="-122"/>
                          <a:cs typeface="IBM Plex Sans" pitchFamily="34" charset="-120"/>
                        </a:rPr>
                        <a:t>Baseline sequencial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2240"/>
                        </a:lnSpc>
                        <a:buNone/>
                      </a:pPr>
                      <a:r>
                        <a:rPr lang="en-US" sz="1600" dirty="0">
                          <a:solidFill>
                            <a:srgbClr val="1A2433"/>
                          </a:solidFill>
                          <a:latin typeface="IBM Plex Sans" pitchFamily="34" charset="0"/>
                          <a:ea typeface="IBM Plex Sans" pitchFamily="34" charset="-122"/>
                          <a:cs typeface="IBM Plex Sans" pitchFamily="34" charset="-120"/>
                        </a:rPr>
                        <a:t>1</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2240"/>
                        </a:lnSpc>
                        <a:buNone/>
                      </a:pPr>
                      <a:r>
                        <a:rPr lang="en-US" sz="1600" dirty="0">
                          <a:solidFill>
                            <a:srgbClr val="1A2433"/>
                          </a:solidFill>
                          <a:latin typeface="IBM Plex Sans" pitchFamily="34" charset="0"/>
                          <a:ea typeface="IBM Plex Sans" pitchFamily="34" charset="-122"/>
                          <a:cs typeface="IBM Plex Sans" pitchFamily="34" charset="-120"/>
                        </a:rPr>
                        <a:t>5,28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2240"/>
                        </a:lnSpc>
                        <a:buNone/>
                      </a:pPr>
                      <a:r>
                        <a:rPr lang="en-US" sz="1600" dirty="0">
                          <a:solidFill>
                            <a:srgbClr val="1A2433"/>
                          </a:solidFill>
                          <a:latin typeface="IBM Plex Sans" pitchFamily="34" charset="0"/>
                          <a:ea typeface="IBM Plex Sans" pitchFamily="34" charset="-122"/>
                          <a:cs typeface="IBM Plex Sans" pitchFamily="34" charset="-120"/>
                        </a:rPr>
                        <a:t>1,00x</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38009">
                <a:tc>
                  <a:txBody>
                    <a:bodyPr/>
                    <a:lstStyle/>
                    <a:p>
                      <a:pPr indent="0" marL="0">
                        <a:lnSpc>
                          <a:spcPts val="2240"/>
                        </a:lnSpc>
                        <a:buNone/>
                      </a:pPr>
                      <a:r>
                        <a:rPr lang="en-US" sz="1600" dirty="0">
                          <a:solidFill>
                            <a:srgbClr val="1A2433"/>
                          </a:solidFill>
                          <a:latin typeface="IBM Plex Sans" pitchFamily="34" charset="0"/>
                          <a:ea typeface="IBM Plex Sans" pitchFamily="34" charset="-122"/>
                          <a:cs typeface="IBM Plex Sans" pitchFamily="34" charset="-120"/>
                        </a:rPr>
                        <a:t>Paralelo, threads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2240"/>
                        </a:lnSpc>
                        <a:buNone/>
                      </a:pPr>
                      <a:r>
                        <a:rPr lang="en-US" sz="1600" dirty="0">
                          <a:solidFill>
                            <a:srgbClr val="1A2433"/>
                          </a:solidFill>
                          <a:latin typeface="IBM Plex Sans" pitchFamily="34" charset="0"/>
                          <a:ea typeface="IBM Plex Sans" pitchFamily="34" charset="-122"/>
                          <a:cs typeface="IBM Plex Sans" pitchFamily="34" charset="-120"/>
                        </a:rPr>
                        <a:t>2 · 4 · 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2240"/>
                        </a:lnSpc>
                        <a:buNone/>
                      </a:pPr>
                      <a:r>
                        <a:rPr lang="en-US" sz="1600" dirty="0">
                          <a:solidFill>
                            <a:srgbClr val="1A2433"/>
                          </a:solidFill>
                          <a:latin typeface="IBM Plex Sans" pitchFamily="34" charset="0"/>
                          <a:ea typeface="IBM Plex Sans" pitchFamily="34" charset="-122"/>
                          <a:cs typeface="IBM Plex Sans" pitchFamily="34" charset="-120"/>
                        </a:rPr>
                        <a:t>8,38 · 8,84 · 8,95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2240"/>
                        </a:lnSpc>
                        <a:buNone/>
                      </a:pPr>
                      <a:r>
                        <a:rPr lang="en-US" sz="1600" dirty="0">
                          <a:solidFill>
                            <a:srgbClr val="A8481A"/>
                          </a:solidFill>
                          <a:latin typeface="IBM Plex Sans" pitchFamily="34" charset="0"/>
                          <a:ea typeface="IBM Plex Sans" pitchFamily="34" charset="-122"/>
                          <a:cs typeface="IBM Plex Sans" pitchFamily="34" charset="-120"/>
                        </a:rPr>
                        <a:t>0,63x · 0,60x · 0,59x</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38009">
                <a:tc>
                  <a:txBody>
                    <a:bodyPr/>
                    <a:lstStyle/>
                    <a:p>
                      <a:pPr indent="0" marL="0">
                        <a:lnSpc>
                          <a:spcPts val="2240"/>
                        </a:lnSpc>
                        <a:buNone/>
                      </a:pPr>
                      <a:r>
                        <a:rPr lang="en-US" sz="1600" dirty="0">
                          <a:solidFill>
                            <a:srgbClr val="1A2433"/>
                          </a:solidFill>
                          <a:latin typeface="IBM Plex Sans" pitchFamily="34" charset="0"/>
                          <a:ea typeface="IBM Plex Sans" pitchFamily="34" charset="-122"/>
                          <a:cs typeface="IBM Plex Sans" pitchFamily="34" charset="-120"/>
                        </a:rPr>
                        <a:t>Paralelo, processos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2240"/>
                        </a:lnSpc>
                        <a:buNone/>
                      </a:pPr>
                      <a:r>
                        <a:rPr lang="en-US" sz="1600" dirty="0">
                          <a:solidFill>
                            <a:srgbClr val="1A2433"/>
                          </a:solidFill>
                          <a:latin typeface="IBM Plex Sans" pitchFamily="34" charset="0"/>
                          <a:ea typeface="IBM Plex Sans" pitchFamily="34" charset="-122"/>
                          <a:cs typeface="IBM Plex Sans" pitchFamily="34" charset="-120"/>
                        </a:rPr>
                        <a:t>2 · 4 · 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2240"/>
                        </a:lnSpc>
                        <a:buNone/>
                      </a:pPr>
                      <a:r>
                        <a:rPr lang="en-US" sz="1600" dirty="0">
                          <a:solidFill>
                            <a:srgbClr val="1A2433"/>
                          </a:solidFill>
                          <a:latin typeface="IBM Plex Sans" pitchFamily="34" charset="0"/>
                          <a:ea typeface="IBM Plex Sans" pitchFamily="34" charset="-122"/>
                          <a:cs typeface="IBM Plex Sans" pitchFamily="34" charset="-120"/>
                        </a:rPr>
                        <a:t>3,25 · 1,81 · 1,71</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2240"/>
                        </a:lnSpc>
                        <a:buNone/>
                      </a:pPr>
                      <a:r>
                        <a:rPr lang="en-US" sz="1600" dirty="0">
                          <a:solidFill>
                            <a:srgbClr val="0E7C6B"/>
                          </a:solidFill>
                          <a:latin typeface="IBM Plex Sans" pitchFamily="34" charset="0"/>
                          <a:ea typeface="IBM Plex Sans" pitchFamily="34" charset="-122"/>
                          <a:cs typeface="IBM Plex Sans" pitchFamily="34" charset="-120"/>
                        </a:rPr>
                        <a:t>1,63x · 2,91x · 3,08x</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38009">
                <a:tc>
                  <a:txBody>
                    <a:bodyPr/>
                    <a:lstStyle/>
                    <a:p>
                      <a:pPr indent="0" marL="0">
                        <a:lnSpc>
                          <a:spcPts val="2240"/>
                        </a:lnSpc>
                        <a:buNone/>
                      </a:pPr>
                      <a:r>
                        <a:rPr lang="en-US" sz="1600" dirty="0">
                          <a:solidFill>
                            <a:srgbClr val="1A2433"/>
                          </a:solidFill>
                          <a:latin typeface="IBM Plex Sans" pitchFamily="34" charset="0"/>
                          <a:ea typeface="IBM Plex Sans" pitchFamily="34" charset="-122"/>
                          <a:cs typeface="IBM Plex Sans" pitchFamily="34" charset="-120"/>
                        </a:rPr>
                        <a:t>Distribuído</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2240"/>
                        </a:lnSpc>
                        <a:buNone/>
                      </a:pPr>
                      <a:r>
                        <a:rPr lang="en-US" sz="1600" dirty="0">
                          <a:solidFill>
                            <a:srgbClr val="1A2433"/>
                          </a:solidFill>
                          <a:latin typeface="IBM Plex Sans" pitchFamily="34" charset="0"/>
                          <a:ea typeface="IBM Plex Sans" pitchFamily="34" charset="-122"/>
                          <a:cs typeface="IBM Plex Sans" pitchFamily="34" charset="-120"/>
                        </a:rPr>
                        <a:t>1 · 2 · 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2240"/>
                        </a:lnSpc>
                        <a:buNone/>
                      </a:pPr>
                      <a:r>
                        <a:rPr lang="en-US" sz="1600" dirty="0">
                          <a:solidFill>
                            <a:srgbClr val="1A2433"/>
                          </a:solidFill>
                          <a:latin typeface="IBM Plex Sans" pitchFamily="34" charset="0"/>
                          <a:ea typeface="IBM Plex Sans" pitchFamily="34" charset="-122"/>
                          <a:cs typeface="IBM Plex Sans" pitchFamily="34" charset="-120"/>
                        </a:rPr>
                        <a:t>6,57 · 3,76 · 2,66</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2240"/>
                        </a:lnSpc>
                        <a:buNone/>
                      </a:pPr>
                      <a:r>
                        <a:rPr lang="en-US" sz="1600" dirty="0">
                          <a:solidFill>
                            <a:srgbClr val="2F5DA8"/>
                          </a:solidFill>
                          <a:latin typeface="IBM Plex Sans" pitchFamily="34" charset="0"/>
                          <a:ea typeface="IBM Plex Sans" pitchFamily="34" charset="-122"/>
                          <a:cs typeface="IBM Plex Sans" pitchFamily="34" charset="-120"/>
                        </a:rPr>
                        <a:t>0,80x · 1,40x · 1,99x</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10" name="Text 7"/>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Mediana de 3 execuções · máquina de 4 núcleos · 51 rodadas, todas conferidas contra o baseline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6F5F1"/>
                </a:solidFill>
                <a:latin typeface="Rubik" pitchFamily="34" charset="0"/>
                <a:ea typeface="Rubik" pitchFamily="34" charset="-122"/>
                <a:cs typeface="Rubik" pitchFamily="34" charset="-120"/>
              </a:rPr>
              <a:t>Análise</a:t>
            </a:r>
            <a:endParaRPr lang="en-US" sz="3600" dirty="0"/>
          </a:p>
        </p:txBody>
      </p:sp>
      <p:sp>
        <p:nvSpPr>
          <p:cNvPr id="3" name="Shape 1"/>
          <p:cNvSpPr/>
          <p:nvPr/>
        </p:nvSpPr>
        <p:spPr>
          <a:xfrm>
            <a:off x="815975" y="1595757"/>
            <a:ext cx="5200650" cy="1607961"/>
          </a:xfrm>
          <a:prstGeom prst="roundRect">
            <a:avLst>
              <a:gd name="adj" fmla="val 6121"/>
            </a:avLst>
          </a:prstGeom>
          <a:solidFill>
            <a:srgbClr val="17263B"/>
          </a:solidFill>
          <a:ln w="6350">
            <a:solidFill>
              <a:srgbClr val="2A3B54"/>
            </a:solidFill>
            <a:prstDash val="solid"/>
          </a:ln>
        </p:spPr>
      </p:sp>
      <p:sp>
        <p:nvSpPr>
          <p:cNvPr id="4" name="Text 2"/>
          <p:cNvSpPr/>
          <p:nvPr/>
        </p:nvSpPr>
        <p:spPr>
          <a:xfrm>
            <a:off x="1071316" y="1851096"/>
            <a:ext cx="483066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4FD1B5"/>
                </a:solidFill>
                <a:latin typeface="Rubik" pitchFamily="34" charset="0"/>
                <a:ea typeface="Rubik" pitchFamily="34" charset="-122"/>
                <a:cs typeface="Rubik" pitchFamily="34" charset="-120"/>
              </a:rPr>
              <a:t>Threads não ajudam</a:t>
            </a:r>
            <a:endParaRPr lang="en-US" sz="1800" dirty="0"/>
          </a:p>
        </p:txBody>
      </p:sp>
      <p:sp>
        <p:nvSpPr>
          <p:cNvPr id="5" name="Text 3"/>
          <p:cNvSpPr/>
          <p:nvPr/>
        </p:nvSpPr>
        <p:spPr>
          <a:xfrm>
            <a:off x="1071316" y="2201618"/>
            <a:ext cx="4830668"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0"/>
                </a:solidFill>
                <a:latin typeface="IBM Plex Sans" pitchFamily="34" charset="0"/>
                <a:ea typeface="IBM Plex Sans" pitchFamily="34" charset="-122"/>
                <a:cs typeface="IBM Plex Sans" pitchFamily="34" charset="-120"/>
              </a:rPr>
              <a:t>Ficaram mais lentas que o baseline (0,59x a 0,63x). O trabalho é CPU puro e o GIL impede a execução simultânea.</a:t>
            </a:r>
            <a:endParaRPr lang="en-US" sz="1400" dirty="0"/>
          </a:p>
        </p:txBody>
      </p:sp>
      <p:sp>
        <p:nvSpPr>
          <p:cNvPr id="6" name="Shape 4"/>
          <p:cNvSpPr/>
          <p:nvPr/>
        </p:nvSpPr>
        <p:spPr>
          <a:xfrm>
            <a:off x="6175375" y="1595757"/>
            <a:ext cx="5200650" cy="1607961"/>
          </a:xfrm>
          <a:prstGeom prst="roundRect">
            <a:avLst>
              <a:gd name="adj" fmla="val 6121"/>
            </a:avLst>
          </a:prstGeom>
          <a:solidFill>
            <a:srgbClr val="17263B"/>
          </a:solidFill>
          <a:ln w="6350">
            <a:solidFill>
              <a:srgbClr val="2A3B54"/>
            </a:solidFill>
            <a:prstDash val="solid"/>
          </a:ln>
        </p:spPr>
      </p:sp>
      <p:sp>
        <p:nvSpPr>
          <p:cNvPr id="7" name="Text 5"/>
          <p:cNvSpPr/>
          <p:nvPr/>
        </p:nvSpPr>
        <p:spPr>
          <a:xfrm>
            <a:off x="6430716" y="1851096"/>
            <a:ext cx="483066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4FD1B5"/>
                </a:solidFill>
                <a:latin typeface="Rubik" pitchFamily="34" charset="0"/>
                <a:ea typeface="Rubik" pitchFamily="34" charset="-122"/>
                <a:cs typeface="Rubik" pitchFamily="34" charset="-120"/>
              </a:rPr>
              <a:t>Processos escalam até os núcleos</a:t>
            </a:r>
            <a:endParaRPr lang="en-US" sz="1800" dirty="0"/>
          </a:p>
        </p:txBody>
      </p:sp>
      <p:sp>
        <p:nvSpPr>
          <p:cNvPr id="8" name="Text 6"/>
          <p:cNvSpPr/>
          <p:nvPr/>
        </p:nvSpPr>
        <p:spPr>
          <a:xfrm>
            <a:off x="6430716" y="2201618"/>
            <a:ext cx="4830668"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0"/>
                </a:solidFill>
                <a:latin typeface="IBM Plex Sans" pitchFamily="34" charset="0"/>
                <a:ea typeface="IBM Plex Sans" pitchFamily="34" charset="-122"/>
                <a:cs typeface="IBM Plex Sans" pitchFamily="34" charset="-120"/>
              </a:rPr>
              <a:t>3,08x com 8 workers, numa máquina de 4 núcleos. Blocos de 16 MB renderam mais que os de 256 MB (3,18x contra 1,74x).</a:t>
            </a:r>
            <a:endParaRPr lang="en-US" sz="1400" dirty="0"/>
          </a:p>
        </p:txBody>
      </p:sp>
      <p:sp>
        <p:nvSpPr>
          <p:cNvPr id="9" name="Shape 7"/>
          <p:cNvSpPr/>
          <p:nvPr/>
        </p:nvSpPr>
        <p:spPr>
          <a:xfrm>
            <a:off x="815975" y="3362468"/>
            <a:ext cx="5200650" cy="1359041"/>
          </a:xfrm>
          <a:prstGeom prst="roundRect">
            <a:avLst>
              <a:gd name="adj" fmla="val 7242"/>
            </a:avLst>
          </a:prstGeom>
          <a:solidFill>
            <a:srgbClr val="17263B"/>
          </a:solidFill>
          <a:ln w="6350">
            <a:solidFill>
              <a:srgbClr val="2A3B54"/>
            </a:solidFill>
            <a:prstDash val="solid"/>
          </a:ln>
        </p:spPr>
      </p:sp>
      <p:sp>
        <p:nvSpPr>
          <p:cNvPr id="10" name="Text 8"/>
          <p:cNvSpPr/>
          <p:nvPr/>
        </p:nvSpPr>
        <p:spPr>
          <a:xfrm>
            <a:off x="1071316" y="3617807"/>
            <a:ext cx="483066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4FD1B5"/>
                </a:solidFill>
                <a:latin typeface="Rubik" pitchFamily="34" charset="0"/>
                <a:ea typeface="Rubik" pitchFamily="34" charset="-122"/>
                <a:cs typeface="Rubik" pitchFamily="34" charset="-120"/>
              </a:rPr>
              <a:t>Distribuído tem custo fixo</a:t>
            </a:r>
            <a:endParaRPr lang="en-US" sz="1800" dirty="0"/>
          </a:p>
        </p:txBody>
      </p:sp>
      <p:sp>
        <p:nvSpPr>
          <p:cNvPr id="11" name="Text 9"/>
          <p:cNvSpPr/>
          <p:nvPr/>
        </p:nvSpPr>
        <p:spPr>
          <a:xfrm>
            <a:off x="1071316" y="3968328"/>
            <a:ext cx="483066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0"/>
                </a:solidFill>
                <a:latin typeface="IBM Plex Sans" pitchFamily="34" charset="0"/>
                <a:ea typeface="IBM Plex Sans" pitchFamily="34" charset="-122"/>
                <a:cs typeface="IBM Plex Sans" pitchFamily="34" charset="-120"/>
              </a:rPr>
              <a:t>Com 1 worker é mais lento que o baseline (0,80x) por causa de HTTP e JSON. Com 3 workers chega a 1,99x.</a:t>
            </a:r>
            <a:endParaRPr lang="en-US" sz="1400" dirty="0"/>
          </a:p>
        </p:txBody>
      </p:sp>
      <p:sp>
        <p:nvSpPr>
          <p:cNvPr id="12" name="Shape 10"/>
          <p:cNvSpPr/>
          <p:nvPr/>
        </p:nvSpPr>
        <p:spPr>
          <a:xfrm>
            <a:off x="6175375" y="3362468"/>
            <a:ext cx="5200650" cy="1359041"/>
          </a:xfrm>
          <a:prstGeom prst="roundRect">
            <a:avLst>
              <a:gd name="adj" fmla="val 7242"/>
            </a:avLst>
          </a:prstGeom>
          <a:solidFill>
            <a:srgbClr val="17263B"/>
          </a:solidFill>
          <a:ln w="6350">
            <a:solidFill>
              <a:srgbClr val="2A3B54"/>
            </a:solidFill>
            <a:prstDash val="solid"/>
          </a:ln>
        </p:spPr>
      </p:sp>
      <p:sp>
        <p:nvSpPr>
          <p:cNvPr id="13" name="Text 11"/>
          <p:cNvSpPr/>
          <p:nvPr/>
        </p:nvSpPr>
        <p:spPr>
          <a:xfrm>
            <a:off x="6430716" y="3617807"/>
            <a:ext cx="483066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4FD1B5"/>
                </a:solidFill>
                <a:latin typeface="Rubik" pitchFamily="34" charset="0"/>
                <a:ea typeface="Rubik" pitchFamily="34" charset="-122"/>
                <a:cs typeface="Rubik" pitchFamily="34" charset="-120"/>
              </a:rPr>
              <a:t>Falha não muda o resultado</a:t>
            </a:r>
            <a:endParaRPr lang="en-US" sz="1800" dirty="0"/>
          </a:p>
        </p:txBody>
      </p:sp>
      <p:sp>
        <p:nvSpPr>
          <p:cNvPr id="14" name="Text 12"/>
          <p:cNvSpPr/>
          <p:nvPr/>
        </p:nvSpPr>
        <p:spPr>
          <a:xfrm>
            <a:off x="6430716" y="3968328"/>
            <a:ext cx="483066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0"/>
                </a:solidFill>
                <a:latin typeface="IBM Plex Sans" pitchFamily="34" charset="0"/>
                <a:ea typeface="IBM Plex Sans" pitchFamily="34" charset="-122"/>
                <a:cs typeface="IBM Plex Sans" pitchFamily="34" charset="-120"/>
              </a:rPr>
              <a:t>Derrubar 1 de 3 workers no meio da execução deixou o total idêntico ao baseline, com 1 reatribuição.</a:t>
            </a:r>
            <a:endParaRPr lang="en-US" sz="1400" dirty="0"/>
          </a:p>
        </p:txBody>
      </p:sp>
      <p:sp>
        <p:nvSpPr>
          <p:cNvPr id="15" name="Text 13"/>
          <p:cNvSpPr/>
          <p:nvPr/>
        </p:nvSpPr>
        <p:spPr>
          <a:xfrm>
            <a:off x="812800" y="6238239"/>
            <a:ext cx="68021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9BD"/>
                </a:solidFill>
                <a:latin typeface="IBM Plex Sans" pitchFamily="34" charset="0"/>
                <a:ea typeface="IBM Plex Sans" pitchFamily="34" charset="-122"/>
                <a:cs typeface="IBM Plex Sans" pitchFamily="34" charset="-120"/>
              </a:rPr>
              <a:t>Limitações: base sintética · 3 repetições · Docker não usado · mesma máquina</a:t>
            </a:r>
            <a:endParaRPr lang="en-US" sz="1200" dirty="0"/>
          </a:p>
        </p:txBody>
      </p:sp>
      <p:sp>
        <p:nvSpPr>
          <p:cNvPr id="16" name="Text 14"/>
          <p:cNvSpPr/>
          <p:nvPr/>
        </p:nvSpPr>
        <p:spPr>
          <a:xfrm>
            <a:off x="7454900" y="6238239"/>
            <a:ext cx="39243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4FD1B5"/>
                </a:solidFill>
                <a:latin typeface="IBM Plex Sans" pitchFamily="34" charset="0"/>
                <a:ea typeface="IBM Plex Sans" pitchFamily="34" charset="-122"/>
                <a:cs typeface="IBM Plex Sans" pitchFamily="34" charset="-120"/>
              </a:rPr>
              <a:t>Código: </a:t>
            </a:r>
            <a:r>
              <a:rPr lang="en-US" sz="1200" b="1" u="sng" dirty="0">
                <a:solidFill>
                  <a:srgbClr val="4FD1B5"/>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github.com/zaccmarc/salesflow</a:t>
            </a:r>
            <a:endParaRPr lang="en-US" sz="1200" dirty="0"/>
          </a:p>
        </p:txBody>
      </p:sp>
    </p:spTree>
  </p:cSld>
  <p:clrMapOvr>
    <a:masterClrMapping/>
  </p:clrMapOvr>
</p:sld>
</file>

<file path=ppt/theme/theme1.xml><?xml version="1.0" encoding="utf-8"?>
<a:theme xmlns:a="http://schemas.openxmlformats.org/drawingml/2006/main" name="SalesFlow">
  <a:themeElements>
    <a:clrScheme name="SalesFlow">
      <a:dk1>
        <a:srgbClr val="0F1B2D"/>
      </a:dk1>
      <a:lt1>
        <a:srgbClr val="F6F5F1"/>
      </a:lt1>
      <a:dk2>
        <a:srgbClr val="49525E"/>
      </a:dk2>
      <a:lt2>
        <a:srgbClr val="DFDFDD"/>
      </a:lt2>
      <a:accent1>
        <a:srgbClr val="4FD1B5"/>
      </a:accent1>
      <a:accent2>
        <a:srgbClr val="0E7C6B"/>
      </a:accent2>
      <a:accent3>
        <a:srgbClr val="2F5DA8"/>
      </a:accent3>
      <a:accent4>
        <a:srgbClr val="E9A23B"/>
      </a:accent4>
      <a:accent5>
        <a:srgbClr val="A8481A"/>
      </a:accent5>
      <a:accent6>
        <a:srgbClr val="4A5260"/>
      </a:accent6>
      <a:hlink>
        <a:srgbClr val="0563C1"/>
      </a:hlink>
      <a:folHlink>
        <a:srgbClr val="954F72"/>
      </a:folHlink>
    </a:clrScheme>
    <a:fontScheme name="SalesFlow">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SalesFlow</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2026-10-26T21:36:47Z</dcterms:created>
  <dcterms:modified xsi:type="dcterms:W3CDTF">2026-10-26T21:36:47Z</dcterms:modified>
</cp:coreProperties>
</file>